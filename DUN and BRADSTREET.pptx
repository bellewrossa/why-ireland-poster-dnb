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9906000" cx="6858000"/>
  <p:notesSz cx="6858000" cy="9144000"/>
  <p:embeddedFontLst>
    <p:embeddedFont>
      <p:font typeface="VT323"/>
      <p:regular r:id="rId6"/>
    </p:embeddedFont>
    <p:embeddedFont>
      <p:font typeface="Red Hat Mono"/>
      <p:regular r:id="rId7"/>
      <p:bold r:id="rId8"/>
      <p:italic r:id="rId9"/>
      <p:boldItalic r:id="rId10"/>
    </p:embeddedFont>
    <p:embeddedFont>
      <p:font typeface="Archiv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t13gslgJPS1Ca3IYQUGEwdYWu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chivo-regular.fntdata"/><Relationship Id="rId10" Type="http://schemas.openxmlformats.org/officeDocument/2006/relationships/font" Target="fonts/RedHatMono-boldItalic.fntdata"/><Relationship Id="rId13" Type="http://schemas.openxmlformats.org/officeDocument/2006/relationships/font" Target="fonts/Archivo-italic.fntdata"/><Relationship Id="rId12" Type="http://schemas.openxmlformats.org/officeDocument/2006/relationships/font" Target="fonts/Archiv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edHatMono-italic.fntdata"/><Relationship Id="rId15" Type="http://customschemas.google.com/relationships/presentationmetadata" Target="metadata"/><Relationship Id="rId14" Type="http://schemas.openxmlformats.org/officeDocument/2006/relationships/font" Target="fonts/Archivo-boldItalic.fntdata"/><Relationship Id="rId5" Type="http://schemas.openxmlformats.org/officeDocument/2006/relationships/slide" Target="slides/slide1.xml"/><Relationship Id="rId6" Type="http://schemas.openxmlformats.org/officeDocument/2006/relationships/font" Target="fonts/VT323-regular.fntdata"/><Relationship Id="rId7" Type="http://schemas.openxmlformats.org/officeDocument/2006/relationships/font" Target="fonts/RedHatMono-regular.fntdata"/><Relationship Id="rId8" Type="http://schemas.openxmlformats.org/officeDocument/2006/relationships/font" Target="fonts/RedHatMon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43138" y="685800"/>
            <a:ext cx="23717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/>
          <p:nvPr>
            <p:ph idx="2" type="sldImg"/>
          </p:nvPr>
        </p:nvSpPr>
        <p:spPr>
          <a:xfrm>
            <a:off x="2243138" y="685800"/>
            <a:ext cx="23717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Relationship Id="rId4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A white">
  <p:cSld name="IDA whit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3"/>
          <p:cNvGrpSpPr/>
          <p:nvPr/>
        </p:nvGrpSpPr>
        <p:grpSpPr>
          <a:xfrm>
            <a:off x="227288" y="190700"/>
            <a:ext cx="1890475" cy="533646"/>
            <a:chOff x="12154855" y="27664004"/>
            <a:chExt cx="8518270" cy="2356880"/>
          </a:xfrm>
        </p:grpSpPr>
        <p:pic>
          <p:nvPicPr>
            <p:cNvPr descr="Images and logos | UCD Smurfit School" id="10" name="Google Shape;10;p3"/>
            <p:cNvPicPr preferRelativeResize="0"/>
            <p:nvPr/>
          </p:nvPicPr>
          <p:blipFill rotWithShape="1">
            <a:blip r:embed="rId2">
              <a:alphaModFix/>
            </a:blip>
            <a:srcRect b="0" l="0" r="71129" t="0"/>
            <a:stretch/>
          </p:blipFill>
          <p:spPr>
            <a:xfrm>
              <a:off x="12154855" y="27710669"/>
              <a:ext cx="1667472" cy="23102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s and logos | UCD Smurfit School" id="11" name="Google Shape;11;p3"/>
            <p:cNvPicPr preferRelativeResize="0"/>
            <p:nvPr/>
          </p:nvPicPr>
          <p:blipFill rotWithShape="1">
            <a:blip r:embed="rId2">
              <a:alphaModFix/>
            </a:blip>
            <a:srcRect b="27295" l="28442" r="0" t="16555"/>
            <a:stretch/>
          </p:blipFill>
          <p:spPr>
            <a:xfrm>
              <a:off x="13864858" y="27664004"/>
              <a:ext cx="6808267" cy="21368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oogle Shape;12;p3"/>
          <p:cNvGrpSpPr/>
          <p:nvPr/>
        </p:nvGrpSpPr>
        <p:grpSpPr>
          <a:xfrm>
            <a:off x="2342250" y="271109"/>
            <a:ext cx="2160967" cy="372823"/>
            <a:chOff x="6839441" y="28524001"/>
            <a:chExt cx="7733157" cy="1307722"/>
          </a:xfrm>
        </p:grpSpPr>
        <p:pic>
          <p:nvPicPr>
            <p:cNvPr descr="A black and white logo&#10;&#10;AI-generated content may be incorrect." id="13" name="Google Shape;13;p3"/>
            <p:cNvPicPr preferRelativeResize="0"/>
            <p:nvPr/>
          </p:nvPicPr>
          <p:blipFill rotWithShape="1">
            <a:blip r:embed="rId3">
              <a:alphaModFix/>
            </a:blip>
            <a:srcRect b="0" l="12273" r="0" t="0"/>
            <a:stretch/>
          </p:blipFill>
          <p:spPr>
            <a:xfrm>
              <a:off x="7754109" y="28524001"/>
              <a:ext cx="6818489" cy="13077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green logo with black background&#10;&#10;AI-generated content may be incorrect." id="14" name="Google Shape;14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39441" y="28555193"/>
              <a:ext cx="914669" cy="92506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Enterprise Ireland - Cyber Ireland" id="15" name="Google Shape;1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2157" y="191132"/>
            <a:ext cx="1944772" cy="532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8964">
          <p15:clr>
            <a:srgbClr val="FBAE40"/>
          </p15:clr>
        </p15:guide>
        <p15:guide id="2" pos="67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40000" y="857086"/>
            <a:ext cx="5778000" cy="11029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585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585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585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585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585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585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585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585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585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40000" y="2219581"/>
            <a:ext cx="5778000" cy="65797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731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19" name="Google Shape;19;p4" title="tech.png"/>
          <p:cNvPicPr preferRelativeResize="0"/>
          <p:nvPr/>
        </p:nvPicPr>
        <p:blipFill rotWithShape="1">
          <a:blip r:embed="rId2">
            <a:alphaModFix amt="56000"/>
          </a:blip>
          <a:srcRect b="0" l="16170" r="18704" t="0"/>
          <a:stretch/>
        </p:blipFill>
        <p:spPr>
          <a:xfrm rot="-7459296">
            <a:off x="386442" y="1806557"/>
            <a:ext cx="14132356" cy="4304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71449" y="440267"/>
            <a:ext cx="2998800" cy="27843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585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207219" y="3979204"/>
            <a:ext cx="2868075" cy="48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854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86887" y="0"/>
            <a:ext cx="2571075" cy="9906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4" name="Google Shape;24;p5" title="tech.png"/>
          <p:cNvPicPr preferRelativeResize="0"/>
          <p:nvPr/>
        </p:nvPicPr>
        <p:blipFill rotWithShape="1">
          <a:blip r:embed="rId2">
            <a:alphaModFix amt="56000"/>
          </a:blip>
          <a:srcRect b="0" l="16170" r="18704" t="0"/>
          <a:stretch/>
        </p:blipFill>
        <p:spPr>
          <a:xfrm>
            <a:off x="-2130300" y="5707867"/>
            <a:ext cx="5503464" cy="11053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 title="tech.png"/>
          <p:cNvPicPr preferRelativeResize="0"/>
          <p:nvPr/>
        </p:nvPicPr>
        <p:blipFill rotWithShape="1">
          <a:blip r:embed="rId2">
            <a:alphaModFix amt="56000"/>
          </a:blip>
          <a:srcRect b="0" l="16170" r="18704" t="0"/>
          <a:stretch/>
        </p:blipFill>
        <p:spPr>
          <a:xfrm rot="6267889">
            <a:off x="-3742438" y="-2681089"/>
            <a:ext cx="14132354" cy="430436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/>
          <p:nvPr>
            <p:ph type="title"/>
          </p:nvPr>
        </p:nvSpPr>
        <p:spPr>
          <a:xfrm>
            <a:off x="1041075" y="2517379"/>
            <a:ext cx="4775851" cy="4871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56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56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56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56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56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56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56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56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56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540049" y="3043204"/>
            <a:ext cx="2697751" cy="46025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type="title"/>
          </p:nvPr>
        </p:nvSpPr>
        <p:spPr>
          <a:xfrm>
            <a:off x="540000" y="857086"/>
            <a:ext cx="5778000" cy="11029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585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2" type="subTitle"/>
          </p:nvPr>
        </p:nvSpPr>
        <p:spPr>
          <a:xfrm>
            <a:off x="3620202" y="3043204"/>
            <a:ext cx="2697751" cy="46025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7" title="tech.png"/>
          <p:cNvPicPr preferRelativeResize="0"/>
          <p:nvPr/>
        </p:nvPicPr>
        <p:blipFill rotWithShape="1">
          <a:blip r:embed="rId2">
            <a:alphaModFix amt="56000"/>
          </a:blip>
          <a:srcRect b="0" l="16170" r="18704" t="0"/>
          <a:stretch/>
        </p:blipFill>
        <p:spPr>
          <a:xfrm flipH="1">
            <a:off x="1354537" y="6223823"/>
            <a:ext cx="5503464" cy="11053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920340" y="7097623"/>
            <a:ext cx="1719675" cy="8701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61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hasCustomPrompt="1" type="title"/>
          </p:nvPr>
        </p:nvSpPr>
        <p:spPr>
          <a:xfrm>
            <a:off x="963000" y="3761046"/>
            <a:ext cx="4932000" cy="153977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3656">
                <a:solidFill>
                  <a:schemeClr val="accent1"/>
                </a:solidFill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9pPr>
          </a:lstStyle>
          <a:p>
            <a:r>
              <a:t>xx%</a:t>
            </a:r>
          </a:p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963000" y="5423889"/>
            <a:ext cx="4932000" cy="7210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9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9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9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9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9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9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9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9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975"/>
            </a:lvl9pPr>
          </a:lstStyle>
          <a:p/>
        </p:txBody>
      </p:sp>
      <p:pic>
        <p:nvPicPr>
          <p:cNvPr id="39" name="Google Shape;39;p9" title="tech.png"/>
          <p:cNvPicPr preferRelativeResize="0"/>
          <p:nvPr/>
        </p:nvPicPr>
        <p:blipFill rotWithShape="1">
          <a:blip r:embed="rId2">
            <a:alphaModFix amt="56000"/>
          </a:blip>
          <a:srcRect b="0" l="16170" r="18704" t="0"/>
          <a:stretch/>
        </p:blipFill>
        <p:spPr>
          <a:xfrm>
            <a:off x="3786712" y="-573589"/>
            <a:ext cx="5503464" cy="11053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noFill/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noFill/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3">
    <p:bg>
      <p:bgPr>
        <a:noFill/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4">
    <p:bg>
      <p:bgPr>
        <a:noFill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5">
    <p:bg>
      <p:bgPr>
        <a:noFill/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6" title="tech.png"/>
          <p:cNvPicPr preferRelativeResize="0"/>
          <p:nvPr/>
        </p:nvPicPr>
        <p:blipFill rotWithShape="1">
          <a:blip r:embed="rId2">
            <a:alphaModFix amt="56000"/>
          </a:blip>
          <a:srcRect b="0" l="16170" r="18704" t="0"/>
          <a:stretch/>
        </p:blipFill>
        <p:spPr>
          <a:xfrm rot="6483983">
            <a:off x="-2517782" y="-4270652"/>
            <a:ext cx="14132354" cy="4304363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6"/>
          <p:cNvSpPr txBox="1"/>
          <p:nvPr>
            <p:ph idx="1" type="subTitle"/>
          </p:nvPr>
        </p:nvSpPr>
        <p:spPr>
          <a:xfrm>
            <a:off x="431370" y="3891723"/>
            <a:ext cx="1785825" cy="11983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2" type="subTitle"/>
          </p:nvPr>
        </p:nvSpPr>
        <p:spPr>
          <a:xfrm>
            <a:off x="2536089" y="3891723"/>
            <a:ext cx="1785825" cy="11983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3" type="subTitle"/>
          </p:nvPr>
        </p:nvSpPr>
        <p:spPr>
          <a:xfrm>
            <a:off x="431370" y="7336584"/>
            <a:ext cx="1785825" cy="11983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4" type="subTitle"/>
          </p:nvPr>
        </p:nvSpPr>
        <p:spPr>
          <a:xfrm>
            <a:off x="2536089" y="7336584"/>
            <a:ext cx="1785825" cy="11983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5" type="subTitle"/>
          </p:nvPr>
        </p:nvSpPr>
        <p:spPr>
          <a:xfrm>
            <a:off x="4640812" y="3891723"/>
            <a:ext cx="1785825" cy="11983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6" type="subTitle"/>
          </p:nvPr>
        </p:nvSpPr>
        <p:spPr>
          <a:xfrm>
            <a:off x="4640812" y="7336584"/>
            <a:ext cx="1785825" cy="11983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type="title"/>
          </p:nvPr>
        </p:nvSpPr>
        <p:spPr>
          <a:xfrm>
            <a:off x="5209049" y="6525622"/>
            <a:ext cx="649351" cy="598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86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9pPr>
          </a:lstStyle>
          <a:p/>
        </p:txBody>
      </p:sp>
      <p:sp>
        <p:nvSpPr>
          <p:cNvPr id="55" name="Google Shape;55;p16"/>
          <p:cNvSpPr txBox="1"/>
          <p:nvPr>
            <p:ph idx="7" type="title"/>
          </p:nvPr>
        </p:nvSpPr>
        <p:spPr>
          <a:xfrm>
            <a:off x="5209049" y="3099927"/>
            <a:ext cx="649351" cy="598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86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9pPr>
          </a:lstStyle>
          <a:p/>
        </p:txBody>
      </p:sp>
      <p:sp>
        <p:nvSpPr>
          <p:cNvPr id="56" name="Google Shape;56;p16"/>
          <p:cNvSpPr txBox="1"/>
          <p:nvPr>
            <p:ph idx="8" type="title"/>
          </p:nvPr>
        </p:nvSpPr>
        <p:spPr>
          <a:xfrm>
            <a:off x="3104889" y="3100504"/>
            <a:ext cx="648225" cy="5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86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850"/>
            </a:lvl9pPr>
          </a:lstStyle>
          <a:p/>
        </p:txBody>
      </p:sp>
      <p:sp>
        <p:nvSpPr>
          <p:cNvPr id="57" name="Google Shape;57;p16"/>
          <p:cNvSpPr txBox="1"/>
          <p:nvPr>
            <p:ph idx="9" type="title"/>
          </p:nvPr>
        </p:nvSpPr>
        <p:spPr>
          <a:xfrm>
            <a:off x="3104326" y="6525622"/>
            <a:ext cx="649351" cy="598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86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9pPr>
          </a:lstStyle>
          <a:p/>
        </p:txBody>
      </p:sp>
      <p:sp>
        <p:nvSpPr>
          <p:cNvPr id="58" name="Google Shape;58;p16"/>
          <p:cNvSpPr txBox="1"/>
          <p:nvPr>
            <p:ph idx="13" type="title"/>
          </p:nvPr>
        </p:nvSpPr>
        <p:spPr>
          <a:xfrm>
            <a:off x="999607" y="3099927"/>
            <a:ext cx="649351" cy="598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86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29"/>
            </a:lvl9pPr>
          </a:lstStyle>
          <a:p/>
        </p:txBody>
      </p:sp>
      <p:sp>
        <p:nvSpPr>
          <p:cNvPr id="59" name="Google Shape;59;p16"/>
          <p:cNvSpPr txBox="1"/>
          <p:nvPr>
            <p:ph idx="14" type="title"/>
          </p:nvPr>
        </p:nvSpPr>
        <p:spPr>
          <a:xfrm>
            <a:off x="999607" y="6525624"/>
            <a:ext cx="649351" cy="598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86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3779"/>
            </a:lvl9pPr>
          </a:lstStyle>
          <a:p/>
        </p:txBody>
      </p:sp>
      <p:sp>
        <p:nvSpPr>
          <p:cNvPr id="60" name="Google Shape;60;p16"/>
          <p:cNvSpPr txBox="1"/>
          <p:nvPr>
            <p:ph idx="15" type="title"/>
          </p:nvPr>
        </p:nvSpPr>
        <p:spPr>
          <a:xfrm>
            <a:off x="171451" y="633912"/>
            <a:ext cx="6515100" cy="11029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1585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72889" y="2176297"/>
            <a:ext cx="2683575" cy="130635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2254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047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047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047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047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047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047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047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047"/>
            </a:lvl9pPr>
          </a:lstStyle>
          <a:p/>
        </p:txBody>
      </p:sp>
      <p:sp>
        <p:nvSpPr>
          <p:cNvPr id="63" name="Google Shape;63;p17"/>
          <p:cNvSpPr txBox="1"/>
          <p:nvPr>
            <p:ph idx="1" type="subTitle"/>
          </p:nvPr>
        </p:nvSpPr>
        <p:spPr>
          <a:xfrm>
            <a:off x="872887" y="3424913"/>
            <a:ext cx="2113651" cy="23723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3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/>
        </p:nvSpPr>
        <p:spPr>
          <a:xfrm>
            <a:off x="2275763" y="6165033"/>
            <a:ext cx="3709351" cy="10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5700" lIns="55700" spcFirstLastPara="1" rIns="55700" wrap="square" tIns="5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"/>
              <a:buFont typeface="Arial"/>
              <a:buNone/>
            </a:pPr>
            <a:r>
              <a:rPr b="1" i="0" lang="en-US" sz="61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b="0" i="0" lang="en-US" sz="61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This presentation template was created by </a:t>
            </a:r>
            <a:r>
              <a:rPr b="1" i="0" lang="en-US" sz="610" u="none" cap="none" strike="noStrike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61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icons, infographics &amp; images by </a:t>
            </a:r>
            <a:r>
              <a:rPr b="1" i="0" lang="en-US" sz="610" u="none" cap="none" strike="noStrike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61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i="0" sz="610" u="sng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65" name="Google Shape;65;p17" title="tech.png"/>
          <p:cNvPicPr preferRelativeResize="0"/>
          <p:nvPr/>
        </p:nvPicPr>
        <p:blipFill rotWithShape="1">
          <a:blip r:embed="rId4">
            <a:alphaModFix amt="66000"/>
          </a:blip>
          <a:srcRect b="0" l="16170" r="18704" t="0"/>
          <a:stretch/>
        </p:blipFill>
        <p:spPr>
          <a:xfrm rot="-6250088">
            <a:off x="-1544167" y="3174518"/>
            <a:ext cx="18666695" cy="627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8" title="tech.png"/>
          <p:cNvPicPr preferRelativeResize="0"/>
          <p:nvPr/>
        </p:nvPicPr>
        <p:blipFill rotWithShape="1">
          <a:blip r:embed="rId2">
            <a:alphaModFix amt="66000"/>
          </a:blip>
          <a:srcRect b="0" l="16170" r="18704" t="0"/>
          <a:stretch/>
        </p:blipFill>
        <p:spPr>
          <a:xfrm rot="-6250088">
            <a:off x="-8576300" y="-1107778"/>
            <a:ext cx="18666695" cy="627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9" title="tech.png"/>
          <p:cNvPicPr preferRelativeResize="0"/>
          <p:nvPr/>
        </p:nvPicPr>
        <p:blipFill rotWithShape="1">
          <a:blip r:embed="rId2">
            <a:alphaModFix amt="66000"/>
          </a:blip>
          <a:srcRect b="0" l="16170" r="18704" t="0"/>
          <a:stretch/>
        </p:blipFill>
        <p:spPr>
          <a:xfrm rot="-6250088">
            <a:off x="-4728724" y="6399144"/>
            <a:ext cx="18666695" cy="627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534919" y="857086"/>
            <a:ext cx="5788125" cy="11029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534919" y="2219581"/>
            <a:ext cx="5788125" cy="65797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b="0" i="0" sz="854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 b="0" i="0" sz="854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 b="0" i="0" sz="854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b="0" i="0" sz="854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 b="0" i="0" sz="854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 b="0" i="0" sz="854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b="0" i="0" sz="854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 b="0" i="0" sz="854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 b="0" i="0" sz="854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/>
        </p:nvSpPr>
        <p:spPr>
          <a:xfrm>
            <a:off x="160779" y="783400"/>
            <a:ext cx="30702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9"/>
              <a:buFont typeface="Arial"/>
              <a:buNone/>
            </a:pPr>
            <a:r>
              <a:rPr b="0" i="0" lang="en-US" sz="3079" u="none" cap="none" strike="noStrike">
                <a:solidFill>
                  <a:srgbClr val="0A2520"/>
                </a:solidFill>
                <a:latin typeface="Georgia"/>
                <a:ea typeface="Georgia"/>
                <a:cs typeface="Georgia"/>
                <a:sym typeface="Georgia"/>
              </a:rPr>
              <a:t>Dun &amp; Bradstreet</a:t>
            </a:r>
            <a:endParaRPr b="0" i="0" sz="30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142682" y="1681990"/>
            <a:ext cx="31065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The world's trusted business data layer, quietly anchoring Europe's AI economy from Dublin since 2010.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205282" y="2092343"/>
            <a:ext cx="1348995" cy="161293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269799" y="2145130"/>
            <a:ext cx="52787" cy="52787"/>
          </a:xfrm>
          <a:prstGeom prst="ellipse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363642" y="2100814"/>
            <a:ext cx="1227985" cy="127135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1"/>
              <a:buFont typeface="Arial"/>
              <a:buNone/>
            </a:pPr>
            <a:r>
              <a:rPr b="1" i="0" lang="en-US" sz="481" u="none" cap="none" strike="noStrike">
                <a:solidFill>
                  <a:srgbClr val="0A2520"/>
                </a:solidFill>
                <a:latin typeface="Consolas"/>
                <a:ea typeface="Consolas"/>
                <a:cs typeface="Consolas"/>
                <a:sym typeface="Consolas"/>
              </a:rPr>
              <a:t>SANDYFORD, DUBLIN 18  ·  IE</a:t>
            </a:r>
            <a:endParaRPr b="0" i="0" sz="48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3546304" y="963294"/>
            <a:ext cx="469216" cy="645171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73"/>
              <a:buFont typeface="Arial"/>
              <a:buNone/>
            </a:pPr>
            <a:r>
              <a:rPr b="0" i="0" lang="en-US" sz="5773" u="none" cap="none" strike="noStrike">
                <a:solidFill>
                  <a:srgbClr val="F26B43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 b="0" i="0" sz="577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3546304" y="1197902"/>
            <a:ext cx="3106414" cy="7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Arial"/>
              <a:buNone/>
            </a:pPr>
            <a:r>
              <a:rPr b="0" i="1" lang="en-US" sz="1283" u="none" cap="none" strike="noStrike">
                <a:solidFill>
                  <a:srgbClr val="0A2520"/>
                </a:solidFill>
                <a:latin typeface="Georgia"/>
                <a:ea typeface="Georgia"/>
                <a:cs typeface="Georgia"/>
                <a:sym typeface="Georgia"/>
              </a:rPr>
              <a:t>Ireland offered the right mix of talent, regulatory maturity, and stability for a data‑centric business.</a:t>
            </a:r>
            <a:endParaRPr b="0" i="0" sz="12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3546304" y="2048354"/>
            <a:ext cx="17596" cy="205282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604956" y="2048354"/>
            <a:ext cx="3106414" cy="205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A2520"/>
                </a:solidFill>
                <a:latin typeface="Calibri"/>
                <a:ea typeface="Calibri"/>
                <a:cs typeface="Calibri"/>
                <a:sym typeface="Calibri"/>
              </a:rPr>
              <a:t>Anne Kearney  </a:t>
            </a:r>
            <a:r>
              <a:rPr b="0" i="0" lang="en-US" sz="700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D&amp;B  ·  EMEA DATA OPERATIONS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205282" y="2400266"/>
            <a:ext cx="263934" cy="24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Arial"/>
              <a:buNone/>
            </a:pPr>
            <a:r>
              <a:rPr b="1" i="0" lang="en-US" sz="641" u="none" cap="none" strike="noStrike">
                <a:solidFill>
                  <a:srgbClr val="F26B43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6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469216" y="2400266"/>
            <a:ext cx="4834508" cy="24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0A2520"/>
                </a:solidFill>
                <a:latin typeface="Calibri"/>
                <a:ea typeface="Calibri"/>
                <a:cs typeface="Calibri"/>
                <a:sym typeface="Calibri"/>
              </a:rPr>
              <a:t>By the numbers</a:t>
            </a:r>
            <a:endParaRPr b="0" i="0" sz="11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098442" y="2400266"/>
            <a:ext cx="1554276" cy="24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8"/>
              <a:buFont typeface="Arial"/>
              <a:buNone/>
            </a:pPr>
            <a:r>
              <a:rPr b="1" i="0" lang="en-US" sz="449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// FOUR METRICS</a:t>
            </a:r>
            <a:endParaRPr b="0" i="0" sz="4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205282" y="2649537"/>
            <a:ext cx="6447436" cy="11730"/>
          </a:xfrm>
          <a:prstGeom prst="rect">
            <a:avLst/>
          </a:prstGeom>
          <a:solidFill>
            <a:srgbClr val="0A25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205282" y="2649537"/>
            <a:ext cx="469216" cy="11730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205282" y="2752178"/>
            <a:ext cx="6447436" cy="703823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222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22586" y="2793751"/>
            <a:ext cx="1435903" cy="117304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// HERITAGE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22051" y="2889599"/>
            <a:ext cx="1612920" cy="322586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A2520"/>
                </a:solidFill>
                <a:latin typeface="Georgia"/>
                <a:ea typeface="Georgia"/>
                <a:cs typeface="Georgia"/>
                <a:sym typeface="Georgia"/>
              </a:rPr>
              <a:t>184</a:t>
            </a:r>
            <a:r>
              <a:rPr b="1" i="0" lang="en-US" sz="1800" u="none" cap="none" strike="noStrike">
                <a:solidFill>
                  <a:srgbClr val="F26B43"/>
                </a:solidFill>
                <a:latin typeface="Calibri"/>
                <a:ea typeface="Calibri"/>
                <a:cs typeface="Calibri"/>
                <a:sym typeface="Calibri"/>
              </a:rPr>
              <a:t> years</a:t>
            </a:r>
            <a:endParaRPr b="0" i="0" sz="1800" u="none" cap="none" strike="noStrike">
              <a:solidFill>
                <a:srgbClr val="F26B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26736" y="3161542"/>
            <a:ext cx="14358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Of structured business data. Founded New York, 1841.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1"/>
          <p:cNvCxnSpPr/>
          <p:nvPr/>
        </p:nvCxnSpPr>
        <p:spPr>
          <a:xfrm>
            <a:off x="1817141" y="2825493"/>
            <a:ext cx="0" cy="557193"/>
          </a:xfrm>
          <a:prstGeom prst="straightConnector1">
            <a:avLst/>
          </a:prstGeom>
          <a:noFill/>
          <a:ln cap="flat" cmpd="sng" w="1587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"/>
          <p:cNvSpPr txBox="1"/>
          <p:nvPr/>
        </p:nvSpPr>
        <p:spPr>
          <a:xfrm>
            <a:off x="1934444" y="2789342"/>
            <a:ext cx="1435903" cy="117304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// DUBLIN SINCE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932050" y="2877169"/>
            <a:ext cx="1612920" cy="322586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A2520"/>
                </a:solidFill>
                <a:latin typeface="Georgia"/>
                <a:ea typeface="Georgia"/>
                <a:cs typeface="Georgia"/>
                <a:sym typeface="Georgia"/>
              </a:rPr>
              <a:t>2010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871650" y="3146698"/>
            <a:ext cx="15081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Operations centre opened in Sandyford via IDA Ireland partnership.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1"/>
          <p:cNvCxnSpPr/>
          <p:nvPr/>
        </p:nvCxnSpPr>
        <p:spPr>
          <a:xfrm>
            <a:off x="3429000" y="2825493"/>
            <a:ext cx="0" cy="557193"/>
          </a:xfrm>
          <a:prstGeom prst="straightConnector1">
            <a:avLst/>
          </a:prstGeom>
          <a:noFill/>
          <a:ln cap="flat" cmpd="sng" w="1587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"/>
          <p:cNvSpPr txBox="1"/>
          <p:nvPr/>
        </p:nvSpPr>
        <p:spPr>
          <a:xfrm>
            <a:off x="3546301" y="2794940"/>
            <a:ext cx="1435903" cy="117304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// GLOBAL WORKFORCE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545768" y="2889187"/>
            <a:ext cx="1612920" cy="322586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A2520"/>
                </a:solidFill>
                <a:latin typeface="Georgia"/>
                <a:ea typeface="Georgia"/>
                <a:cs typeface="Georgia"/>
                <a:sym typeface="Georgia"/>
              </a:rPr>
              <a:t>6k</a:t>
            </a:r>
            <a:r>
              <a:rPr b="1" i="0" lang="en-US" sz="1800" u="none" cap="none" strike="noStrike">
                <a:solidFill>
                  <a:srgbClr val="F26B43"/>
                </a:solidFill>
                <a:latin typeface="Calibri"/>
                <a:ea typeface="Calibri"/>
                <a:cs typeface="Calibri"/>
                <a:sym typeface="Calibri"/>
              </a:rPr>
              <a:t> people</a:t>
            </a:r>
            <a:endParaRPr b="0" i="0" sz="1800" u="none" cap="none" strike="noStrike">
              <a:solidFill>
                <a:srgbClr val="F26B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3546301" y="3142537"/>
            <a:ext cx="1435903" cy="175956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Across the Americas, EMEA and APAC. Dublin anchors EMEA.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1"/>
          <p:cNvCxnSpPr/>
          <p:nvPr/>
        </p:nvCxnSpPr>
        <p:spPr>
          <a:xfrm>
            <a:off x="5040859" y="2825493"/>
            <a:ext cx="0" cy="557193"/>
          </a:xfrm>
          <a:prstGeom prst="straightConnector1">
            <a:avLst/>
          </a:prstGeom>
          <a:noFill/>
          <a:ln cap="flat" cmpd="sng" w="1587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"/>
          <p:cNvSpPr txBox="1"/>
          <p:nvPr/>
        </p:nvSpPr>
        <p:spPr>
          <a:xfrm>
            <a:off x="5157093" y="2788835"/>
            <a:ext cx="1435903" cy="117304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// DATA CLOUD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54706" y="2906780"/>
            <a:ext cx="1612920" cy="322586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A2520"/>
                </a:solidFill>
                <a:latin typeface="Georgia"/>
                <a:ea typeface="Georgia"/>
                <a:cs typeface="Georgia"/>
                <a:sym typeface="Georgia"/>
              </a:rPr>
              <a:t>500M</a:t>
            </a:r>
            <a:r>
              <a:rPr b="1" i="0" lang="en-US" sz="1600" u="none" cap="none" strike="noStrike">
                <a:solidFill>
                  <a:srgbClr val="F26B43"/>
                </a:solidFill>
                <a:latin typeface="Calibri"/>
                <a:ea typeface="Calibri"/>
                <a:cs typeface="Calibri"/>
                <a:sym typeface="Calibri"/>
              </a:rPr>
              <a:t> + records</a:t>
            </a:r>
            <a:endParaRPr b="0" i="0" sz="1600" u="none" cap="none" strike="noStrike">
              <a:solidFill>
                <a:srgbClr val="F26B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5157093" y="3174059"/>
            <a:ext cx="1435903" cy="175956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Verified business records powering AI, CRM and risk systems globally.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05282" y="3587968"/>
            <a:ext cx="263934" cy="24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26B43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469216" y="3587968"/>
            <a:ext cx="4834508" cy="24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0A2520"/>
                </a:solidFill>
                <a:latin typeface="Calibri"/>
                <a:ea typeface="Calibri"/>
                <a:cs typeface="Calibri"/>
                <a:sym typeface="Calibri"/>
              </a:rPr>
              <a:t>An ecosystem anchored in Dublin</a:t>
            </a:r>
            <a:endParaRPr b="0" i="0" sz="11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015521" y="3587968"/>
            <a:ext cx="2637198" cy="24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// PARTNER  ·  INTEGRATION  ·  CLUSTER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205282" y="3837239"/>
            <a:ext cx="6447436" cy="11730"/>
          </a:xfrm>
          <a:prstGeom prst="rect">
            <a:avLst/>
          </a:prstGeom>
          <a:solidFill>
            <a:srgbClr val="0A25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205282" y="3837239"/>
            <a:ext cx="469216" cy="11730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96742" y="4008197"/>
            <a:ext cx="6481597" cy="2350304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222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1"/>
          <p:cNvCxnSpPr/>
          <p:nvPr/>
        </p:nvCxnSpPr>
        <p:spPr>
          <a:xfrm rot="10800000">
            <a:off x="2621937" y="4699866"/>
            <a:ext cx="427191" cy="280726"/>
          </a:xfrm>
          <a:prstGeom prst="straightConnector1">
            <a:avLst/>
          </a:prstGeom>
          <a:noFill/>
          <a:ln cap="flat" cmpd="sng" w="15875">
            <a:solidFill>
              <a:srgbClr val="0A252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1" name="Google Shape;111;p1"/>
          <p:cNvSpPr/>
          <p:nvPr/>
        </p:nvSpPr>
        <p:spPr>
          <a:xfrm>
            <a:off x="2610206" y="4688135"/>
            <a:ext cx="23461" cy="23461"/>
          </a:xfrm>
          <a:prstGeom prst="ellipse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1"/>
          <p:cNvCxnSpPr/>
          <p:nvPr/>
        </p:nvCxnSpPr>
        <p:spPr>
          <a:xfrm rot="10800000">
            <a:off x="3391362" y="4722105"/>
            <a:ext cx="4060" cy="54806"/>
          </a:xfrm>
          <a:prstGeom prst="straightConnector1">
            <a:avLst/>
          </a:prstGeom>
          <a:noFill/>
          <a:ln cap="flat" cmpd="sng" w="15875">
            <a:solidFill>
              <a:srgbClr val="0A252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3" name="Google Shape;113;p1"/>
          <p:cNvSpPr/>
          <p:nvPr/>
        </p:nvSpPr>
        <p:spPr>
          <a:xfrm>
            <a:off x="3379631" y="4710375"/>
            <a:ext cx="23461" cy="23461"/>
          </a:xfrm>
          <a:prstGeom prst="ellipse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1"/>
          <p:cNvCxnSpPr/>
          <p:nvPr/>
        </p:nvCxnSpPr>
        <p:spPr>
          <a:xfrm flipH="1" rot="10800000">
            <a:off x="3794050" y="4699009"/>
            <a:ext cx="350932" cy="260369"/>
          </a:xfrm>
          <a:prstGeom prst="straightConnector1">
            <a:avLst/>
          </a:prstGeom>
          <a:noFill/>
          <a:ln cap="flat" cmpd="sng" w="15875">
            <a:solidFill>
              <a:srgbClr val="0A252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5" name="Google Shape;115;p1"/>
          <p:cNvSpPr/>
          <p:nvPr/>
        </p:nvSpPr>
        <p:spPr>
          <a:xfrm>
            <a:off x="4133251" y="4687279"/>
            <a:ext cx="23461" cy="23461"/>
          </a:xfrm>
          <a:prstGeom prst="ellipse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1"/>
          <p:cNvCxnSpPr/>
          <p:nvPr/>
        </p:nvCxnSpPr>
        <p:spPr>
          <a:xfrm flipH="1">
            <a:off x="2659486" y="5502954"/>
            <a:ext cx="405872" cy="304403"/>
          </a:xfrm>
          <a:prstGeom prst="straightConnector1">
            <a:avLst/>
          </a:prstGeom>
          <a:noFill/>
          <a:ln cap="flat" cmpd="sng" w="15875">
            <a:solidFill>
              <a:srgbClr val="0A252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7" name="Google Shape;117;p1"/>
          <p:cNvSpPr/>
          <p:nvPr/>
        </p:nvSpPr>
        <p:spPr>
          <a:xfrm>
            <a:off x="2647756" y="5795627"/>
            <a:ext cx="23461" cy="23461"/>
          </a:xfrm>
          <a:prstGeom prst="ellipse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"/>
          <p:cNvCxnSpPr/>
          <p:nvPr/>
        </p:nvCxnSpPr>
        <p:spPr>
          <a:xfrm>
            <a:off x="3429000" y="5684775"/>
            <a:ext cx="0" cy="52787"/>
          </a:xfrm>
          <a:prstGeom prst="straightConnector1">
            <a:avLst/>
          </a:prstGeom>
          <a:noFill/>
          <a:ln cap="flat" cmpd="sng" w="15875">
            <a:solidFill>
              <a:srgbClr val="0A252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9" name="Google Shape;119;p1"/>
          <p:cNvSpPr/>
          <p:nvPr/>
        </p:nvSpPr>
        <p:spPr>
          <a:xfrm>
            <a:off x="3417270" y="5725831"/>
            <a:ext cx="23461" cy="23461"/>
          </a:xfrm>
          <a:prstGeom prst="ellipse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1"/>
          <p:cNvCxnSpPr/>
          <p:nvPr/>
        </p:nvCxnSpPr>
        <p:spPr>
          <a:xfrm>
            <a:off x="3792642" y="5502954"/>
            <a:ext cx="423467" cy="317600"/>
          </a:xfrm>
          <a:prstGeom prst="straightConnector1">
            <a:avLst/>
          </a:prstGeom>
          <a:noFill/>
          <a:ln cap="flat" cmpd="sng" w="15875">
            <a:solidFill>
              <a:srgbClr val="0A252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1" name="Google Shape;121;p1"/>
          <p:cNvSpPr/>
          <p:nvPr/>
        </p:nvSpPr>
        <p:spPr>
          <a:xfrm>
            <a:off x="4204378" y="5808823"/>
            <a:ext cx="23461" cy="23461"/>
          </a:xfrm>
          <a:prstGeom prst="ellipse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2695851" y="4497073"/>
            <a:ext cx="1466298" cy="146629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26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2490569" y="4291791"/>
            <a:ext cx="1876862" cy="1876862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26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2974448" y="4775670"/>
            <a:ext cx="909105" cy="90910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F26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0404" y="5010277"/>
            <a:ext cx="537193" cy="32258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"/>
          <p:cNvSpPr txBox="1"/>
          <p:nvPr/>
        </p:nvSpPr>
        <p:spPr>
          <a:xfrm>
            <a:off x="2842481" y="5391515"/>
            <a:ext cx="1173039" cy="16129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7"/>
              <a:buFont typeface="Arial"/>
              <a:buNone/>
            </a:pPr>
            <a:r>
              <a:rPr b="1" i="0" lang="en-US" sz="417" u="none" cap="none" strike="noStrike">
                <a:solidFill>
                  <a:srgbClr val="5A6478"/>
                </a:solidFill>
                <a:latin typeface="Consolas"/>
                <a:ea typeface="Consolas"/>
                <a:cs typeface="Consolas"/>
                <a:sym typeface="Consolas"/>
              </a:rPr>
              <a:t>DUBLIN  ·  EMEA HUB</a:t>
            </a:r>
            <a:endParaRPr b="0" i="0" sz="4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2065343" y="4299123"/>
            <a:ext cx="674497" cy="513204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/>
          <p:nvPr/>
        </p:nvSpPr>
        <p:spPr>
          <a:xfrm flipH="1" rot="10800000">
            <a:off x="2094510" y="4290469"/>
            <a:ext cx="623360" cy="23209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4708" y="4387100"/>
            <a:ext cx="375766" cy="26393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"/>
          <p:cNvSpPr txBox="1"/>
          <p:nvPr/>
        </p:nvSpPr>
        <p:spPr>
          <a:xfrm>
            <a:off x="2065343" y="4695023"/>
            <a:ext cx="674497" cy="938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"/>
              <a:buFont typeface="Arial"/>
              <a:buNone/>
            </a:pPr>
            <a:r>
              <a:rPr b="1" i="0" lang="en-US" sz="321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PARTNER</a:t>
            </a:r>
            <a:endParaRPr b="0" i="0" sz="3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3033100" y="4159824"/>
            <a:ext cx="674497" cy="557193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3055015" y="4152090"/>
            <a:ext cx="623256" cy="26135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9522" y="4247802"/>
            <a:ext cx="461653" cy="30792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3033100" y="4599714"/>
            <a:ext cx="674497" cy="938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"/>
              <a:buFont typeface="Arial"/>
              <a:buNone/>
            </a:pPr>
            <a:r>
              <a:rPr b="1" i="0" lang="en-US" sz="321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PARTNER</a:t>
            </a:r>
            <a:endParaRPr b="0" i="0" sz="3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4103497" y="4284460"/>
            <a:ext cx="469216" cy="54253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126543" y="4273538"/>
            <a:ext cx="416844" cy="17596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93555" y="4372437"/>
            <a:ext cx="289100" cy="2932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"/>
          <p:cNvSpPr txBox="1"/>
          <p:nvPr/>
        </p:nvSpPr>
        <p:spPr>
          <a:xfrm>
            <a:off x="4103497" y="4709686"/>
            <a:ext cx="469216" cy="938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"/>
              <a:buFont typeface="Arial"/>
              <a:buNone/>
            </a:pPr>
            <a:r>
              <a:rPr b="1" i="0" lang="en-US" sz="321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DUBLIN CLUSTER</a:t>
            </a:r>
            <a:endParaRPr b="0" i="0" sz="3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2080005" y="5728763"/>
            <a:ext cx="821127" cy="410564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2107322" y="5720074"/>
            <a:ext cx="755089" cy="18288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75544" y="5816741"/>
            <a:ext cx="630050" cy="161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"/>
          <p:cNvSpPr txBox="1"/>
          <p:nvPr/>
        </p:nvSpPr>
        <p:spPr>
          <a:xfrm>
            <a:off x="2080005" y="6022023"/>
            <a:ext cx="821127" cy="938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"/>
              <a:buFont typeface="Arial"/>
              <a:buNone/>
            </a:pPr>
            <a:r>
              <a:rPr b="1" i="0" lang="en-US" sz="321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DUBLIN CLUSTER</a:t>
            </a:r>
            <a:endParaRPr b="0" i="0" sz="3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3091752" y="5743427"/>
            <a:ext cx="674497" cy="498541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3125914" y="5734886"/>
            <a:ext cx="623360" cy="17596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79730" y="5832550"/>
            <a:ext cx="498541" cy="246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"/>
          <p:cNvSpPr txBox="1"/>
          <p:nvPr/>
        </p:nvSpPr>
        <p:spPr>
          <a:xfrm>
            <a:off x="3091752" y="6124664"/>
            <a:ext cx="674497" cy="938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"/>
              <a:buFont typeface="Arial"/>
              <a:buNone/>
            </a:pPr>
            <a:r>
              <a:rPr b="1" i="0" lang="en-US" sz="321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INTEGRATION</a:t>
            </a:r>
            <a:endParaRPr b="0" i="0" sz="3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3927542" y="5750758"/>
            <a:ext cx="879779" cy="36657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3944945" y="5740494"/>
            <a:ext cx="823150" cy="17596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15520" y="5851194"/>
            <a:ext cx="703823" cy="9238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"/>
          <p:cNvSpPr txBox="1"/>
          <p:nvPr/>
        </p:nvSpPr>
        <p:spPr>
          <a:xfrm>
            <a:off x="3927542" y="6000029"/>
            <a:ext cx="879779" cy="938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1"/>
              <a:buFont typeface="Arial"/>
              <a:buNone/>
            </a:pPr>
            <a:r>
              <a:rPr b="1" i="0" lang="en-US" sz="321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INTEGRATION</a:t>
            </a:r>
            <a:endParaRPr b="0" i="0" sz="32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205282" y="6394096"/>
            <a:ext cx="263934" cy="24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26B43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 txBox="1"/>
          <p:nvPr/>
        </p:nvSpPr>
        <p:spPr>
          <a:xfrm>
            <a:off x="469216" y="6394096"/>
            <a:ext cx="4834508" cy="24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0A2520"/>
                </a:solidFill>
                <a:latin typeface="Calibri"/>
                <a:ea typeface="Calibri"/>
                <a:cs typeface="Calibri"/>
                <a:sym typeface="Calibri"/>
              </a:rPr>
              <a:t>Why Ireland for D&amp;B?</a:t>
            </a:r>
            <a:endParaRPr b="0" i="0" sz="11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"/>
          <p:cNvSpPr txBox="1"/>
          <p:nvPr/>
        </p:nvSpPr>
        <p:spPr>
          <a:xfrm>
            <a:off x="5098442" y="6394096"/>
            <a:ext cx="1554276" cy="24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// FOUR FOUNDATIONS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205282" y="6643367"/>
            <a:ext cx="6447436" cy="11730"/>
          </a:xfrm>
          <a:prstGeom prst="rect">
            <a:avLst/>
          </a:prstGeom>
          <a:solidFill>
            <a:srgbClr val="0A25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205282" y="6643367"/>
            <a:ext cx="469216" cy="11730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205282" y="6746007"/>
            <a:ext cx="3179729" cy="82276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222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322586" y="6804659"/>
            <a:ext cx="2945121" cy="938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01 / Talent &amp; Partnership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322586" y="6939489"/>
            <a:ext cx="2945121" cy="16129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A2520"/>
                </a:solidFill>
                <a:latin typeface="Calibri"/>
                <a:ea typeface="Calibri"/>
                <a:cs typeface="Calibri"/>
                <a:sym typeface="Calibri"/>
              </a:rPr>
              <a:t>A long‑game partner, not just incentives.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 txBox="1"/>
          <p:nvPr/>
        </p:nvSpPr>
        <p:spPr>
          <a:xfrm>
            <a:off x="322051" y="7078591"/>
            <a:ext cx="2945121" cy="278597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The IDA played a critical role, not just in incentives, but in long‑term partnership. Ireland delivered the talent depth and stability a data‑centric business needs to scale.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3472989" y="6746007"/>
            <a:ext cx="3179729" cy="82276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222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3590293" y="6804659"/>
            <a:ext cx="2945121" cy="938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02 / Regulatory Maturity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 txBox="1"/>
          <p:nvPr/>
        </p:nvSpPr>
        <p:spPr>
          <a:xfrm>
            <a:off x="3590293" y="6947173"/>
            <a:ext cx="2945121" cy="16129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A2520"/>
                </a:solidFill>
                <a:latin typeface="Calibri"/>
                <a:ea typeface="Calibri"/>
                <a:cs typeface="Calibri"/>
                <a:sym typeface="Calibri"/>
              </a:rPr>
              <a:t>Governance treated as a design input.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3601175" y="7075841"/>
            <a:ext cx="2945121" cy="278597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Being EU‑based shapes how D&amp;B's data operations are designed, spanning GDPR through emerging AI regulation. Governance is a design input, not a constraint.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205282" y="7682661"/>
            <a:ext cx="3179729" cy="70549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222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"/>
          <p:cNvSpPr txBox="1"/>
          <p:nvPr/>
        </p:nvSpPr>
        <p:spPr>
          <a:xfrm>
            <a:off x="322586" y="7708267"/>
            <a:ext cx="2945121" cy="938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03 / Convergence &amp; Ecosystem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322051" y="7822197"/>
            <a:ext cx="2953661" cy="221069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A2520"/>
                </a:solidFill>
                <a:latin typeface="Calibri"/>
                <a:ea typeface="Calibri"/>
                <a:cs typeface="Calibri"/>
                <a:sym typeface="Calibri"/>
              </a:rPr>
              <a:t>A convening point for European data thinking.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322586" y="7957537"/>
            <a:ext cx="2945121" cy="451270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With Salesforce, Google, LinkedIn and others clustered nearby, Dublin has become the European hub where shared standards around data, identity and responsible AI emerge.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3490069" y="7674121"/>
            <a:ext cx="3162649" cy="71403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222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"/>
          <p:cNvSpPr/>
          <p:nvPr/>
        </p:nvSpPr>
        <p:spPr>
          <a:xfrm>
            <a:off x="3549853" y="7660840"/>
            <a:ext cx="3021008" cy="23461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3590293" y="7708267"/>
            <a:ext cx="2945121" cy="9384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04 / Trusted Data for AI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3598833" y="7827728"/>
            <a:ext cx="2945121" cy="135675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A2520"/>
                </a:solidFill>
                <a:latin typeface="Calibri"/>
                <a:ea typeface="Calibri"/>
                <a:cs typeface="Calibri"/>
                <a:sym typeface="Calibri"/>
              </a:rPr>
              <a:t>The known truth that AI starts from.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3601175" y="7962368"/>
            <a:ext cx="2936581" cy="252978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D&amp;B's curated, entity‑resolved records now feed AI systems directly as training, grounding and real‑time context, ensuring models start from a known truth about the business world.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205282" y="8397427"/>
            <a:ext cx="263934" cy="24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Arial"/>
              <a:buNone/>
            </a:pPr>
            <a:r>
              <a:rPr b="1" i="0" lang="en-US" sz="641" u="none" cap="none" strike="noStrike">
                <a:solidFill>
                  <a:srgbClr val="F26B43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6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"/>
          <p:cNvSpPr txBox="1"/>
          <p:nvPr/>
        </p:nvSpPr>
        <p:spPr>
          <a:xfrm>
            <a:off x="469216" y="8397427"/>
            <a:ext cx="4834508" cy="24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0A2520"/>
                </a:solidFill>
                <a:latin typeface="Calibri"/>
                <a:ea typeface="Calibri"/>
                <a:cs typeface="Calibri"/>
                <a:sym typeface="Calibri"/>
              </a:rPr>
              <a:t>The Ireland Journey</a:t>
            </a:r>
            <a:endParaRPr b="0" i="0" sz="11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5098442" y="8397427"/>
            <a:ext cx="1554276" cy="249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50" lIns="29325" spcFirstLastPara="1" rIns="29325" wrap="square" tIns="146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8"/>
              <a:buFont typeface="Arial"/>
              <a:buNone/>
            </a:pPr>
            <a:r>
              <a:rPr b="1" i="0" lang="en-US" sz="449" u="none" cap="none" strike="noStrike">
                <a:solidFill>
                  <a:srgbClr val="7A8682"/>
                </a:solidFill>
                <a:latin typeface="Consolas"/>
                <a:ea typeface="Consolas"/>
                <a:cs typeface="Consolas"/>
                <a:sym typeface="Consolas"/>
              </a:rPr>
              <a:t>// 1841  →  2026</a:t>
            </a:r>
            <a:endParaRPr b="0" i="0" sz="4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205282" y="8646698"/>
            <a:ext cx="6447436" cy="11730"/>
          </a:xfrm>
          <a:prstGeom prst="rect">
            <a:avLst/>
          </a:prstGeom>
          <a:solidFill>
            <a:srgbClr val="0A25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205282" y="8646698"/>
            <a:ext cx="469216" cy="11730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205282" y="8749339"/>
            <a:ext cx="6447436" cy="863387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2225">
            <a:solidFill>
              <a:srgbClr val="0A2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1"/>
          <p:cNvCxnSpPr/>
          <p:nvPr/>
        </p:nvCxnSpPr>
        <p:spPr>
          <a:xfrm>
            <a:off x="351912" y="8895969"/>
            <a:ext cx="6036872" cy="0"/>
          </a:xfrm>
          <a:prstGeom prst="straightConnector1">
            <a:avLst/>
          </a:prstGeom>
          <a:noFill/>
          <a:ln cap="flat" cmpd="sng" w="22225">
            <a:solidFill>
              <a:srgbClr val="F26B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"/>
          <p:cNvSpPr/>
          <p:nvPr/>
        </p:nvSpPr>
        <p:spPr>
          <a:xfrm>
            <a:off x="316721" y="8860777"/>
            <a:ext cx="70382" cy="70382"/>
          </a:xfrm>
          <a:prstGeom prst="ellipse">
            <a:avLst/>
          </a:prstGeom>
          <a:solidFill>
            <a:srgbClr val="FFFFFF"/>
          </a:solidFill>
          <a:ln cap="flat" cmpd="sng" w="22225">
            <a:solidFill>
              <a:srgbClr val="F26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"/>
          <p:cNvSpPr txBox="1"/>
          <p:nvPr/>
        </p:nvSpPr>
        <p:spPr>
          <a:xfrm>
            <a:off x="232460" y="8954620"/>
            <a:ext cx="439890" cy="102641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26B43"/>
                </a:solidFill>
                <a:latin typeface="Consolas"/>
                <a:ea typeface="Consolas"/>
                <a:cs typeface="Consolas"/>
                <a:sym typeface="Consolas"/>
              </a:rPr>
              <a:t>1841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"/>
          <p:cNvSpPr txBox="1"/>
          <p:nvPr/>
        </p:nvSpPr>
        <p:spPr>
          <a:xfrm>
            <a:off x="205282" y="9187889"/>
            <a:ext cx="893535" cy="217367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Dun &amp; Bradstreet founded in New York.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1449993" y="8860777"/>
            <a:ext cx="70382" cy="70382"/>
          </a:xfrm>
          <a:prstGeom prst="ellipse">
            <a:avLst/>
          </a:prstGeom>
          <a:solidFill>
            <a:srgbClr val="FFFFFF"/>
          </a:solidFill>
          <a:ln cap="flat" cmpd="sng" w="22225">
            <a:solidFill>
              <a:srgbClr val="F26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"/>
          <p:cNvSpPr txBox="1"/>
          <p:nvPr/>
        </p:nvSpPr>
        <p:spPr>
          <a:xfrm>
            <a:off x="1351170" y="8945566"/>
            <a:ext cx="403653" cy="193188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26B43"/>
                </a:solidFill>
                <a:latin typeface="Consolas"/>
                <a:ea typeface="Consolas"/>
                <a:cs typeface="Consolas"/>
                <a:sym typeface="Consolas"/>
              </a:rPr>
              <a:t>2010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1216315" y="9180205"/>
            <a:ext cx="959229" cy="194315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Dublin operations centre announced via IDA Ireland.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"/>
          <p:cNvSpPr/>
          <p:nvPr/>
        </p:nvSpPr>
        <p:spPr>
          <a:xfrm>
            <a:off x="2475689" y="8860777"/>
            <a:ext cx="70382" cy="70382"/>
          </a:xfrm>
          <a:prstGeom prst="ellipse">
            <a:avLst/>
          </a:prstGeom>
          <a:solidFill>
            <a:srgbClr val="FFFFFF"/>
          </a:solidFill>
          <a:ln cap="flat" cmpd="sng" w="22225">
            <a:solidFill>
              <a:srgbClr val="F26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"/>
          <p:cNvSpPr txBox="1"/>
          <p:nvPr/>
        </p:nvSpPr>
        <p:spPr>
          <a:xfrm>
            <a:off x="2394986" y="8954620"/>
            <a:ext cx="439890" cy="102641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26B43"/>
                </a:solidFill>
                <a:latin typeface="Consolas"/>
                <a:ea typeface="Consolas"/>
                <a:cs typeface="Consolas"/>
                <a:sym typeface="Consolas"/>
              </a:rPr>
              <a:t>2010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2263420" y="9180205"/>
            <a:ext cx="801938" cy="209683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Office opens in Sandyford; first 100 hires begin.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"/>
          <p:cNvSpPr/>
          <p:nvPr/>
        </p:nvSpPr>
        <p:spPr>
          <a:xfrm>
            <a:off x="3501385" y="8860777"/>
            <a:ext cx="70382" cy="70382"/>
          </a:xfrm>
          <a:prstGeom prst="ellipse">
            <a:avLst/>
          </a:prstGeom>
          <a:solidFill>
            <a:srgbClr val="FFFFFF"/>
          </a:solidFill>
          <a:ln cap="flat" cmpd="sng" w="22225">
            <a:solidFill>
              <a:srgbClr val="F26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"/>
          <p:cNvSpPr txBox="1"/>
          <p:nvPr/>
        </p:nvSpPr>
        <p:spPr>
          <a:xfrm>
            <a:off x="3420682" y="8954620"/>
            <a:ext cx="439890" cy="102641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26B43"/>
                </a:solidFill>
                <a:latin typeface="Consolas"/>
                <a:ea typeface="Consolas"/>
                <a:cs typeface="Consolas"/>
                <a:sym typeface="Consolas"/>
              </a:rPr>
              <a:t>2011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3289116" y="9180205"/>
            <a:ext cx="867596" cy="186631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Expansion to 75 additional roles announced.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"/>
          <p:cNvSpPr/>
          <p:nvPr/>
        </p:nvSpPr>
        <p:spPr>
          <a:xfrm>
            <a:off x="4603921" y="8860777"/>
            <a:ext cx="70382" cy="70382"/>
          </a:xfrm>
          <a:prstGeom prst="ellipse">
            <a:avLst/>
          </a:prstGeom>
          <a:solidFill>
            <a:srgbClr val="FFFFFF"/>
          </a:solidFill>
          <a:ln cap="flat" cmpd="sng" w="22225">
            <a:solidFill>
              <a:srgbClr val="F26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"/>
          <p:cNvSpPr txBox="1"/>
          <p:nvPr/>
        </p:nvSpPr>
        <p:spPr>
          <a:xfrm>
            <a:off x="4500166" y="8954620"/>
            <a:ext cx="439890" cy="102641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26B43"/>
                </a:solidFill>
                <a:latin typeface="Consolas"/>
                <a:ea typeface="Consolas"/>
                <a:cs typeface="Consolas"/>
                <a:sym typeface="Consolas"/>
              </a:rPr>
              <a:t>2012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"/>
          <p:cNvSpPr txBox="1"/>
          <p:nvPr/>
        </p:nvSpPr>
        <p:spPr>
          <a:xfrm>
            <a:off x="4314812" y="9180205"/>
            <a:ext cx="839894" cy="178947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Headcount reaches ~225. Full data &amp; tech hub established.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"/>
          <p:cNvSpPr/>
          <p:nvPr/>
        </p:nvSpPr>
        <p:spPr>
          <a:xfrm>
            <a:off x="5445201" y="8860777"/>
            <a:ext cx="70382" cy="70382"/>
          </a:xfrm>
          <a:prstGeom prst="ellipse">
            <a:avLst/>
          </a:prstGeom>
          <a:solidFill>
            <a:srgbClr val="F26B43"/>
          </a:solidFill>
          <a:ln cap="flat" cmpd="sng" w="22225">
            <a:solidFill>
              <a:srgbClr val="F26B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"/>
          <p:cNvSpPr txBox="1"/>
          <p:nvPr/>
        </p:nvSpPr>
        <p:spPr>
          <a:xfrm>
            <a:off x="5333762" y="8954620"/>
            <a:ext cx="439890" cy="102641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26B43"/>
                </a:solidFill>
                <a:latin typeface="Consolas"/>
                <a:ea typeface="Consolas"/>
                <a:cs typeface="Consolas"/>
                <a:sym typeface="Consolas"/>
              </a:rPr>
              <a:t>TODAY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"/>
          <p:cNvSpPr txBox="1"/>
          <p:nvPr/>
        </p:nvSpPr>
        <p:spPr>
          <a:xfrm>
            <a:off x="5340508" y="9180205"/>
            <a:ext cx="898927" cy="225052"/>
          </a:xfrm>
          <a:prstGeom prst="rect">
            <a:avLst/>
          </a:prstGeom>
          <a:noFill/>
          <a:ln>
            <a:noFill/>
          </a:ln>
        </p:spPr>
        <p:txBody>
          <a:bodyPr anchorCtr="0" anchor="t" bIns="14650" lIns="29325" spcFirstLastPara="1" rIns="29325" wrap="square" tIns="146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A5C58"/>
                </a:solidFill>
                <a:latin typeface="Calibri"/>
                <a:ea typeface="Calibri"/>
                <a:cs typeface="Calibri"/>
                <a:sym typeface="Calibri"/>
              </a:rPr>
              <a:t>Dublin anchors EMEA data governance for the AI era.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"/>
          <p:cNvSpPr/>
          <p:nvPr/>
        </p:nvSpPr>
        <p:spPr>
          <a:xfrm>
            <a:off x="295579" y="7669928"/>
            <a:ext cx="3021008" cy="23461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"/>
          <p:cNvSpPr/>
          <p:nvPr/>
        </p:nvSpPr>
        <p:spPr>
          <a:xfrm>
            <a:off x="295565" y="6731662"/>
            <a:ext cx="3021008" cy="23461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"/>
          <p:cNvSpPr/>
          <p:nvPr/>
        </p:nvSpPr>
        <p:spPr>
          <a:xfrm>
            <a:off x="3549471" y="6731662"/>
            <a:ext cx="3021008" cy="23461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 Trends 2026 by Slidesgo">
  <a:themeElements>
    <a:clrScheme name="Simple Light">
      <a:dk1>
        <a:srgbClr val="222222"/>
      </a:dk1>
      <a:lt1>
        <a:srgbClr val="F8F8F8"/>
      </a:lt1>
      <a:dk2>
        <a:srgbClr val="222222"/>
      </a:dk2>
      <a:lt2>
        <a:srgbClr val="22222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2222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